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61120" y="0"/>
            <a:ext cx="3227832" cy="6858000"/>
          </a:xfrm>
          <a:prstGeom prst="roundRect">
            <a:avLst/>
          </a:prstGeom>
          <a:solidFill>
            <a:srgbClr val="13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38360" y="731520"/>
            <a:ext cx="1645920" cy="1645920"/>
          </a:xfrm>
          <a:prstGeom prst="round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78440" y="2743200"/>
            <a:ext cx="1143000" cy="1143000"/>
          </a:xfrm>
          <a:prstGeom prst="round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98280" y="4754880"/>
            <a:ext cx="2103120" cy="1005840"/>
          </a:xfrm>
          <a:prstGeom prst="roundRect">
            <a:avLst/>
          </a:prstGeom>
          <a:solidFill>
            <a:srgbClr val="18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7132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1">
                <a:solidFill>
                  <a:srgbClr val="34B7CD"/>
                </a:solidFill>
                <a:latin typeface="Aptos"/>
              </a:defRPr>
            </a:pPr>
            <a:r>
              <a:t>WEEK 8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7680960" cy="1371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ADVANCED VAPT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768096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500" b="1">
                <a:solidFill>
                  <a:srgbClr val="D2E3F3"/>
                </a:solidFill>
                <a:latin typeface="Aptos"/>
              </a:defRPr>
            </a:pPr>
            <a:r>
              <a:t>Attack Chain &amp; Full</a:t>
            </a:r>
            <a:br/>
            <a:r>
              <a:t>Exploitation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713232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OWASP Juice Shop  •  Burp Suite  •  Evidence-led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15000"/>
            <a:ext cx="71323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C1D3E6"/>
                </a:solidFill>
                <a:latin typeface="Aptos"/>
              </a:defRPr>
            </a:pPr>
            <a:r>
              <a:t>Prepared by: Krina Sorathiya  |  DG Interns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6217920"/>
            <a:ext cx="24688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SECURITY • VALIDATION • REMEDIATION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2369AF"/>
                </a:solidFill>
                <a:latin typeface="Aptos"/>
              </a:defRPr>
            </a:pPr>
            <a:r>
              <a:t>WEEK 8 • ADVANCED VAPT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0F223D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05840" cy="54864"/>
          </a:xfrm>
          <a:prstGeom prst="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7778B"/>
                </a:solidFill>
                <a:latin typeface="Aptos"/>
              </a:defRPr>
            </a:pPr>
            <a:r>
              <a:t>OWASP Juice Shop  |  Authorized training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777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900" b="1">
                <a:solidFill>
                  <a:srgbClr val="2369AF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1078992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100" b="1">
                <a:solidFill>
                  <a:srgbClr val="0F223D"/>
                </a:solidFill>
                <a:latin typeface="Aptos"/>
              </a:defRPr>
            </a:pPr>
            <a:r>
              <a:t>Demonstrate how independently validated application weaknesses may combine into a realistic attack chain and create a larger security impact.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63240"/>
            <a:ext cx="3429000" cy="196596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063240"/>
            <a:ext cx="73152" cy="196596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209544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630168"/>
            <a:ext cx="3063240" cy="1307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OWASP Juice Shop</a:t>
            </a:r>
            <a:br/>
            <a:r>
              <a:t>Intentionally vulnerable training 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3063240"/>
            <a:ext cx="3429000" cy="196596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3063240"/>
            <a:ext cx="73152" cy="1965960"/>
          </a:xfrm>
          <a:prstGeom prst="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209544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630168"/>
            <a:ext cx="3063240" cy="1307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Advanced web application VAPT</a:t>
            </a:r>
            <a:br/>
            <a:r>
              <a:t>Logic-based manual testing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063240"/>
            <a:ext cx="3429000" cy="196596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3063240"/>
            <a:ext cx="73152" cy="1965960"/>
          </a:xfrm>
          <a:prstGeom prst="rect">
            <a:avLst/>
          </a:prstGeom>
          <a:solidFill>
            <a:srgbClr val="F2A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3209544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Primary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630168"/>
            <a:ext cx="3063240" cy="1307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Burp Suite</a:t>
            </a:r>
            <a:br/>
            <a:r>
              <a:t>Proxy, HTTP history &amp; Repeater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32120"/>
            <a:ext cx="10789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0">
                <a:solidFill>
                  <a:srgbClr val="67778B"/>
                </a:solidFill>
                <a:latin typeface="Aptos"/>
              </a:defRPr>
            </a:pPr>
            <a:r>
              <a:t>Scope: locally hosted or explicitly authorized lab instance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2369AF"/>
                </a:solidFill>
                <a:latin typeface="Aptos"/>
              </a:defRPr>
            </a:pPr>
            <a:r>
              <a:t>WEEK 8 • ADVANCED VAPT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0F223D"/>
                </a:solidFill>
                <a:latin typeface="Aptos"/>
              </a:defRPr>
            </a:pPr>
            <a:r>
              <a:t>Scope &amp; Rules of Engagement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05840" cy="54864"/>
          </a:xfrm>
          <a:prstGeom prst="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7778B"/>
                </a:solidFill>
                <a:latin typeface="Aptos"/>
              </a:defRPr>
            </a:pPr>
            <a:r>
              <a:t>OWASP Juice Shop  |  Authorized training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777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03520" cy="356616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73152" cy="3566160"/>
          </a:xfrm>
          <a:prstGeom prst="rect">
            <a:avLst/>
          </a:prstGeom>
          <a:solidFill>
            <a:srgbClr val="319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00784"/>
            <a:ext cx="4937759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In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21408"/>
            <a:ext cx="4937759" cy="290779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• Application pages and authorized APIs</a:t>
            </a:r>
            <a:br/>
            <a:r>
              <a:t>• Authentication and session handling</a:t>
            </a:r>
            <a:br/>
            <a:r>
              <a:t>• Parameter manipulation and access control</a:t>
            </a:r>
            <a:br/>
            <a:r>
              <a:t>• Business-logic testing</a:t>
            </a:r>
            <a:br/>
            <a:r>
              <a:t>• Burp interception and request replay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303520" cy="356616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73152" cy="3566160"/>
          </a:xfrm>
          <a:prstGeom prst="rect">
            <a:avLst/>
          </a:prstGeom>
          <a:solidFill>
            <a:srgbClr val="F2A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700784"/>
            <a:ext cx="4937759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Out of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21408"/>
            <a:ext cx="4937759" cy="290779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• Real-world production systems</a:t>
            </a:r>
            <a:br/>
            <a:r>
              <a:t>• Unauthorized third-party services</a:t>
            </a:r>
            <a:br/>
            <a:r>
              <a:t>• Denial-of-service testing</a:t>
            </a:r>
            <a:br/>
            <a:r>
              <a:t>• Destructive actions outside the lab</a:t>
            </a:r>
            <a:br/>
            <a:r>
              <a:t>• Credential attacks against external 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3212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0F223D"/>
                </a:solidFill>
                <a:latin typeface="Aptos"/>
              </a:defRPr>
            </a:pPr>
            <a:r>
              <a:t>Testing principle: validate safely, capture reproducible evidence, and avoid unnecessary exposure of secrets.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2369AF"/>
                </a:solidFill>
                <a:latin typeface="Aptos"/>
              </a:defRPr>
            </a:pPr>
            <a:r>
              <a:t>WEEK 8 • ADVANCED VAPT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0F223D"/>
                </a:solidFill>
                <a:latin typeface="Aptos"/>
              </a:defRPr>
            </a:pPr>
            <a:r>
              <a:t>Assessment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05840" cy="54864"/>
          </a:xfrm>
          <a:prstGeom prst="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7778B"/>
                </a:solidFill>
                <a:latin typeface="Aptos"/>
              </a:defRPr>
            </a:pPr>
            <a:r>
              <a:t>OWASP Juice Shop  |  Authorized training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777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606040" cy="150876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1">
                <a:solidFill>
                  <a:srgbClr val="34B7C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2331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0F223D"/>
                </a:solidFill>
                <a:latin typeface="Aptos"/>
              </a:defRPr>
            </a:pPr>
            <a:r>
              <a:t>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23317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253345"/>
                </a:solidFill>
                <a:latin typeface="Aptos"/>
              </a:defRPr>
            </a:pPr>
            <a:r>
              <a:t>Reconnaissance &amp; application-flow mapping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600200"/>
            <a:ext cx="2606040" cy="150876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99" y="1719072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1">
                <a:solidFill>
                  <a:srgbClr val="34B7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9" y="2057400"/>
            <a:ext cx="2331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0F223D"/>
                </a:solidFill>
                <a:latin typeface="Aptos"/>
              </a:defRPr>
            </a:pPr>
            <a:r>
              <a:t>Identify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599" y="2423160"/>
            <a:ext cx="23317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253345"/>
                </a:solidFill>
                <a:latin typeface="Aptos"/>
              </a:defRPr>
            </a:pPr>
            <a:r>
              <a:t>Inputs, parameters, APIs &amp; state changes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00200"/>
            <a:ext cx="2606040" cy="150876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719072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1">
                <a:solidFill>
                  <a:srgbClr val="34B7C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057400"/>
            <a:ext cx="2331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0F223D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423160"/>
            <a:ext cx="23317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253345"/>
                </a:solidFill>
                <a:latin typeface="Aptos"/>
              </a:defRPr>
            </a:pPr>
            <a:r>
              <a:t>Authentication, access control, logic &amp; sessions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59" y="1600200"/>
            <a:ext cx="2606040" cy="150876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9" y="1719072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1">
                <a:solidFill>
                  <a:srgbClr val="34B7C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2057400"/>
            <a:ext cx="2331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0F223D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2423160"/>
            <a:ext cx="23317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253345"/>
                </a:solidFill>
                <a:latin typeface="Aptos"/>
              </a:defRPr>
            </a:pPr>
            <a:r>
              <a:t>Burp Proxy / Repeater with controlled replay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66160"/>
            <a:ext cx="2606040" cy="150876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85032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1">
                <a:solidFill>
                  <a:srgbClr val="34B7C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023360"/>
            <a:ext cx="2331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0F223D"/>
                </a:solidFill>
                <a:latin typeface="Aptos"/>
              </a:defRPr>
            </a:pPr>
            <a:r>
              <a:t>Chain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389120"/>
            <a:ext cx="23317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253345"/>
                </a:solidFill>
                <a:latin typeface="Aptos"/>
              </a:defRPr>
            </a:pPr>
            <a:r>
              <a:t>Link only independently confirmed weaknesses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39" y="3566160"/>
            <a:ext cx="2606040" cy="150876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599" y="3685032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1">
                <a:solidFill>
                  <a:srgbClr val="34B7C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599" y="4023360"/>
            <a:ext cx="2331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0F223D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599" y="4389120"/>
            <a:ext cx="23317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253345"/>
                </a:solidFill>
                <a:latin typeface="Aptos"/>
              </a:defRPr>
            </a:pPr>
            <a:r>
              <a:t>Technical and business impact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566160"/>
            <a:ext cx="2606040" cy="150876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685032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1">
                <a:solidFill>
                  <a:srgbClr val="34B7C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023360"/>
            <a:ext cx="2331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0F223D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389120"/>
            <a:ext cx="23317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253345"/>
                </a:solidFill>
                <a:latin typeface="Aptos"/>
              </a:defRPr>
            </a:pPr>
            <a:r>
              <a:t>Recommend fixes and re-test the chain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71500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67778B"/>
                </a:solidFill>
                <a:latin typeface="Aptos"/>
              </a:defRPr>
            </a:pPr>
            <a:r>
              <a:t>Every claimed result should be backed by a real request/response or application-state screenshot.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2369AF"/>
                </a:solidFill>
                <a:latin typeface="Aptos"/>
              </a:defRPr>
            </a:pPr>
            <a:r>
              <a:t>WEEK 8 • ADVANCED VAPT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0F223D"/>
                </a:solidFill>
                <a:latin typeface="Aptos"/>
              </a:defRPr>
            </a:pPr>
            <a:r>
              <a:t>Attack-Surface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05840" cy="54864"/>
          </a:xfrm>
          <a:prstGeom prst="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7778B"/>
                </a:solidFill>
                <a:latin typeface="Aptos"/>
              </a:defRPr>
            </a:pPr>
            <a:r>
              <a:t>OWASP Juice Shop  |  Authorized training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777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474720" cy="160020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73152" cy="160020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00784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Login /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21408"/>
            <a:ext cx="3108960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Fields, errors, session creation</a:t>
            </a:r>
            <a:br/>
            <a:r>
              <a:t>Focus: Authentication &amp; session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54480"/>
            <a:ext cx="3474720" cy="160020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54480"/>
            <a:ext cx="73152" cy="1600200"/>
          </a:xfrm>
          <a:prstGeom prst="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700784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Search /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121408"/>
            <a:ext cx="3108960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Parameters, encoding, reflected output</a:t>
            </a:r>
            <a:br/>
            <a:r>
              <a:t>Focus: Injection / XSS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474720" cy="160020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554480"/>
            <a:ext cx="73152" cy="1600200"/>
          </a:xfrm>
          <a:prstGeom prst="rect">
            <a:avLst/>
          </a:prstGeom>
          <a:solidFill>
            <a:srgbClr val="F2A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700784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Account /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121408"/>
            <a:ext cx="3108960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Object IDs and user-controlled IDs</a:t>
            </a:r>
            <a:br/>
            <a:r>
              <a:t>Focus: IDOR / access control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20439"/>
            <a:ext cx="3474720" cy="160020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520439"/>
            <a:ext cx="73152" cy="160020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666744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Basket / Checkout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087368"/>
            <a:ext cx="3108960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Prices, quantities, product IDs</a:t>
            </a:r>
            <a:br/>
            <a:r>
              <a:t>Focus: Business logic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520439"/>
            <a:ext cx="3474720" cy="160020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520439"/>
            <a:ext cx="73152" cy="1600200"/>
          </a:xfrm>
          <a:prstGeom prst="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3666744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API Requests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4087368"/>
            <a:ext cx="3108960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Methods, endpoints, authorization</a:t>
            </a:r>
            <a:br/>
            <a:r>
              <a:t>Focus: BOLA / IDOR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520439"/>
            <a:ext cx="3474720" cy="160020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520439"/>
            <a:ext cx="73152" cy="1600200"/>
          </a:xfrm>
          <a:prstGeom prst="rect">
            <a:avLst/>
          </a:prstGeom>
          <a:solidFill>
            <a:srgbClr val="F2A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666744"/>
            <a:ext cx="31089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Restricted Routes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4087368"/>
            <a:ext cx="3108960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Routes and access requirements</a:t>
            </a:r>
            <a:br/>
            <a:r>
              <a:t>Focus: Forced browsing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10789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1">
                <a:solidFill>
                  <a:srgbClr val="0F223D"/>
                </a:solidFill>
                <a:latin typeface="Aptos"/>
              </a:defRPr>
            </a:pPr>
            <a:r>
              <a:t>Map the observed flow: Landing → Authentication → User Area → Data / Objects → State-changing Functions → Restricted Areas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2369AF"/>
                </a:solidFill>
                <a:latin typeface="Aptos"/>
              </a:defRPr>
            </a:pPr>
            <a:r>
              <a:t>WEEK 8 • ADVANCED VAPT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0F223D"/>
                </a:solidFill>
                <a:latin typeface="Aptos"/>
              </a:defRPr>
            </a:pPr>
            <a:r>
              <a:t>Advanced Manual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05840" cy="54864"/>
          </a:xfrm>
          <a:prstGeom prst="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7778B"/>
                </a:solidFill>
                <a:latin typeface="Aptos"/>
              </a:defRPr>
            </a:pPr>
            <a:r>
              <a:t>OWASP Juice Shop  |  Authorized training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7778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520440" cy="333756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73152" cy="333756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00784"/>
            <a:ext cx="31546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Authentication &amp;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21408"/>
            <a:ext cx="3154680" cy="267919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• Capture a legitimate login request</a:t>
            </a:r>
            <a:br/>
            <a:r>
              <a:t>• Replay in Repeater</a:t>
            </a:r>
            <a:br/>
            <a:r>
              <a:t>• Observe session/token lifecycle</a:t>
            </a:r>
            <a:br/>
            <a:r>
              <a:t>• Compare logged-in and logged-out access</a:t>
            </a:r>
            <a:br/>
            <a:r>
              <a:t>• Verify logout invalidation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54480"/>
            <a:ext cx="3520440" cy="333756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73152" cy="3337560"/>
          </a:xfrm>
          <a:prstGeom prst="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00784"/>
            <a:ext cx="31546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Parameter Tampering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21408"/>
            <a:ext cx="3154680" cy="267919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• Select a user-controlled value</a:t>
            </a:r>
            <a:br/>
            <a:r>
              <a:t>• Change one parameter at a time</a:t>
            </a:r>
            <a:br/>
            <a:r>
              <a:t>• Compare response and app state</a:t>
            </a:r>
            <a:br/>
            <a:r>
              <a:t>• Check server-side validation</a:t>
            </a:r>
            <a:br/>
            <a:r>
              <a:t>• Record reproducible behavior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520440" cy="333756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73152" cy="3337560"/>
          </a:xfrm>
          <a:prstGeom prst="rect">
            <a:avLst/>
          </a:prstGeom>
          <a:solidFill>
            <a:srgbClr val="F2A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00784"/>
            <a:ext cx="31546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IDOR / Access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21408"/>
            <a:ext cx="3154680" cy="267919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• Identify a test-owned object</a:t>
            </a:r>
            <a:br/>
            <a:r>
              <a:t>• Record its object identifier</a:t>
            </a:r>
            <a:br/>
            <a:r>
              <a:t>• Change only authorized test object ID</a:t>
            </a:r>
            <a:br/>
            <a:r>
              <a:t>• Replay request</a:t>
            </a:r>
            <a:br/>
            <a:r>
              <a:t>• Confirm server-side authorization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67778B"/>
                </a:solidFill>
                <a:latin typeface="Aptos"/>
              </a:defRPr>
            </a:pPr>
            <a:r>
              <a:t>A client-side UI restriction alone is not proof of authorization; confirm the server response.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2369AF"/>
                </a:solidFill>
                <a:latin typeface="Aptos"/>
              </a:defRPr>
            </a:pPr>
            <a:r>
              <a:t>WEEK 8 • ADVANCED VAPT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0F223D"/>
                </a:solidFill>
                <a:latin typeface="Aptos"/>
              </a:defRPr>
            </a:pPr>
            <a:r>
              <a:t>Business-Logic &amp; Workflow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05840" cy="54864"/>
          </a:xfrm>
          <a:prstGeom prst="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7778B"/>
                </a:solidFill>
                <a:latin typeface="Aptos"/>
              </a:defRPr>
            </a:pPr>
            <a:r>
              <a:t>OWASP Juice Shop  |  Authorized training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7778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166360" cy="182880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73152" cy="182880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46504"/>
            <a:ext cx="48006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Workflow Bypass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67128"/>
            <a:ext cx="4800600" cy="11704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Map a multi-step process, then test whether a later action is accepted without its required prior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166360" cy="182880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73152" cy="1828800"/>
          </a:xfrm>
          <a:prstGeom prst="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746504"/>
            <a:ext cx="48006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Hidden / Additional Parameters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167128"/>
            <a:ext cx="4800600" cy="11704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Inspect observed requests for extra parameters and assess whether security-sensitive decisions rely on client-controlled values.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106070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0F223D"/>
                </a:solidFill>
                <a:latin typeface="Aptos"/>
              </a:defRPr>
            </a:pPr>
            <a:r>
              <a:t>Candidate weaknesses for a chain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34840"/>
            <a:ext cx="2514600" cy="123444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434840"/>
            <a:ext cx="73152" cy="123444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581144"/>
            <a:ext cx="21488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5001768"/>
            <a:ext cx="2148840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Potential initial access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4434840"/>
            <a:ext cx="2514600" cy="123444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20440" y="4434840"/>
            <a:ext cx="73152" cy="1234440"/>
          </a:xfrm>
          <a:prstGeom prst="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4581144"/>
            <a:ext cx="21488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IDOR / BOLA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1608" y="5001768"/>
            <a:ext cx="2148840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Potential expanded data access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434840"/>
            <a:ext cx="2514600" cy="123444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4434840"/>
            <a:ext cx="73152" cy="1234440"/>
          </a:xfrm>
          <a:prstGeom prst="rect">
            <a:avLst/>
          </a:prstGeom>
          <a:solidFill>
            <a:srgbClr val="F2A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4581144"/>
            <a:ext cx="21488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Logic bypass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5001768"/>
            <a:ext cx="2148840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Potential workflow violation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4434840"/>
            <a:ext cx="2514600" cy="123444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4434840"/>
            <a:ext cx="73152" cy="1234440"/>
          </a:xfrm>
          <a:prstGeom prst="rect">
            <a:avLst/>
          </a:prstGeom>
          <a:solidFill>
            <a:srgbClr val="319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90888" y="4581144"/>
            <a:ext cx="21488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Sensitive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90888" y="5001768"/>
            <a:ext cx="2148840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Potential impact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897880"/>
            <a:ext cx="104241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67778B"/>
                </a:solidFill>
                <a:latin typeface="Aptos"/>
              </a:defRPr>
            </a:pPr>
            <a:r>
              <a:t>Chain only what is independently validated and causally connected.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2369AF"/>
                </a:solidFill>
                <a:latin typeface="Aptos"/>
              </a:defRPr>
            </a:pPr>
            <a:r>
              <a:t>WEEK 8 • ADVANCED VAPT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0F223D"/>
                </a:solidFill>
                <a:latin typeface="Aptos"/>
              </a:defRPr>
            </a:pPr>
            <a:r>
              <a:t>Attack Chain: Conceptual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05840" cy="54864"/>
          </a:xfrm>
          <a:prstGeom prst="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7778B"/>
                </a:solidFill>
                <a:latin typeface="Aptos"/>
              </a:defRPr>
            </a:pPr>
            <a:r>
              <a:t>OWASP Juice Shop  |  Authorized training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7778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481328"/>
            <a:ext cx="8366760" cy="749808"/>
          </a:xfrm>
          <a:prstGeom prst="roundRect">
            <a:avLst/>
          </a:prstGeom>
          <a:solidFill>
            <a:srgbClr val="0F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1545336"/>
            <a:ext cx="7955279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  INITIAL 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837944"/>
            <a:ext cx="7955279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Authentication / initial weakness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231136"/>
            <a:ext cx="7315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800" b="1">
                <a:solidFill>
                  <a:srgbClr val="2369A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2578608"/>
            <a:ext cx="8366760" cy="749808"/>
          </a:xfrm>
          <a:prstGeom prst="round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2642616"/>
            <a:ext cx="7955279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  ACCESS-CONTROL OR LOGIC BYPASS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935224"/>
            <a:ext cx="7955279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IDOR, workflow bypass or parameter issue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328416"/>
            <a:ext cx="7315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800" b="1">
                <a:solidFill>
                  <a:srgbClr val="2369A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3675887"/>
            <a:ext cx="8366760" cy="749808"/>
          </a:xfrm>
          <a:prstGeom prst="round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3739896"/>
            <a:ext cx="7955279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  EXPANDED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032503"/>
            <a:ext cx="7955279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Restricted object, function or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425696"/>
            <a:ext cx="7315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800" b="1">
                <a:solidFill>
                  <a:srgbClr val="2369A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4773168"/>
            <a:ext cx="8366760" cy="749808"/>
          </a:xfrm>
          <a:prstGeom prst="roundRect">
            <a:avLst/>
          </a:prstGeom>
          <a:solidFill>
            <a:srgbClr val="319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4837176"/>
            <a:ext cx="7955279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  FINAL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5129783"/>
            <a:ext cx="7955279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Sensitive data, privileged action or account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989320"/>
            <a:ext cx="99669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400" b="1">
                <a:solidFill>
                  <a:srgbClr val="67778B"/>
                </a:solidFill>
                <a:latin typeface="Aptos"/>
              </a:defRPr>
            </a:pPr>
            <a:r>
              <a:t>Arrows must represent a demonstrated dependency—not simply a list of separate findings.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2369AF"/>
                </a:solidFill>
                <a:latin typeface="Aptos"/>
              </a:defRPr>
            </a:pPr>
            <a:r>
              <a:t>WEEK 8 • ADVANCED VAPT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0F223D"/>
                </a:solidFill>
                <a:latin typeface="Aptos"/>
              </a:defRPr>
            </a:pPr>
            <a:r>
              <a:t>Evidence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05840" cy="54864"/>
          </a:xfrm>
          <a:prstGeom prst="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7778B"/>
                </a:solidFill>
                <a:latin typeface="Aptos"/>
              </a:defRPr>
            </a:pPr>
            <a:r>
              <a:t>OWASP Juice Shop  |  Authorized training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7778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10652760" cy="566928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1234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2369AF"/>
                </a:solidFill>
                <a:latin typeface="Aptos"/>
              </a:defRPr>
            </a:pPr>
            <a:r>
              <a:t>01–03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600200"/>
            <a:ext cx="87782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253345"/>
                </a:solidFill>
                <a:latin typeface="Aptos"/>
              </a:defRPr>
            </a:pPr>
            <a:r>
              <a:t>Target, entry points, Burp HTTP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58568"/>
            <a:ext cx="10652760" cy="566928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50008"/>
            <a:ext cx="1234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2369AF"/>
                </a:solidFill>
                <a:latin typeface="Aptos"/>
              </a:defRPr>
            </a:pPr>
            <a:r>
              <a:t>04–05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350008"/>
            <a:ext cx="87782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253345"/>
                </a:solidFill>
                <a:latin typeface="Aptos"/>
              </a:defRPr>
            </a:pPr>
            <a:r>
              <a:t>Authentication baseline and parameter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08376"/>
            <a:ext cx="10652760" cy="566928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099816"/>
            <a:ext cx="1234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2369AF"/>
                </a:solidFill>
                <a:latin typeface="Aptos"/>
              </a:defRPr>
            </a:pPr>
            <a:r>
              <a:t>06–08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099816"/>
            <a:ext cx="87782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253345"/>
                </a:solidFill>
                <a:latin typeface="Aptos"/>
              </a:defRPr>
            </a:pPr>
            <a:r>
              <a:t>Access-control, workflow and hidden-parameter 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58183"/>
            <a:ext cx="10652760" cy="566928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849623"/>
            <a:ext cx="1234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2369AF"/>
                </a:solidFill>
                <a:latin typeface="Aptos"/>
              </a:defRPr>
            </a:pPr>
            <a:r>
              <a:t>09–12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849623"/>
            <a:ext cx="87782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253345"/>
                </a:solidFill>
                <a:latin typeface="Aptos"/>
              </a:defRPr>
            </a:pPr>
            <a:r>
              <a:t>Attack-chain steps and final impact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07992"/>
            <a:ext cx="10652760" cy="566928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599431"/>
            <a:ext cx="1234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2369A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599431"/>
            <a:ext cx="87782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253345"/>
                </a:solidFill>
                <a:latin typeface="Aptos"/>
              </a:defRPr>
            </a:pPr>
            <a:r>
              <a:t>Final evidence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532120"/>
            <a:ext cx="1033272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0F223D"/>
                </a:solidFill>
                <a:latin typeface="Aptos"/>
              </a:defRPr>
            </a:pPr>
            <a:r>
              <a:t>Evidence quality: keep endpoint and HTTP method visible, highlight changed parameters, show status and relevant response, crop distractions, and redact secrets. Use actual lab screenshots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2369AF"/>
                </a:solidFill>
                <a:latin typeface="Aptos"/>
              </a:defRPr>
            </a:pPr>
            <a:r>
              <a:t>WEEK 8 • ADVANCED VAPT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0F223D"/>
                </a:solidFill>
                <a:latin typeface="Aptos"/>
              </a:defRPr>
            </a:pPr>
            <a:r>
              <a:t>Risk &amp; Impact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05840" cy="54864"/>
          </a:xfrm>
          <a:prstGeom prst="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7778B"/>
                </a:solidFill>
                <a:latin typeface="Aptos"/>
              </a:defRPr>
            </a:pPr>
            <a:r>
              <a:t>OWASP Juice Shop  |  Authorized training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777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212080" cy="338328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73152" cy="338328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00784"/>
            <a:ext cx="48463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Risk 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21408"/>
            <a:ext cx="4846320" cy="2724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Assess each finding using:</a:t>
            </a:r>
            <a:br/>
            <a:r>
              <a:t>• Confirmed weakness</a:t>
            </a:r>
            <a:br/>
            <a:r>
              <a:t>• Exploitation conditions</a:t>
            </a:r>
            <a:br/>
            <a:r>
              <a:t>• Technical impact</a:t>
            </a:r>
            <a:br/>
            <a:r>
              <a:t>• Business impact</a:t>
            </a:r>
            <a:br/>
            <a:r>
              <a:t>• Evidence reference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212080" cy="338328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73152" cy="3383280"/>
          </a:xfrm>
          <a:prstGeom prst="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700784"/>
            <a:ext cx="48463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CIA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121408"/>
            <a:ext cx="4846320" cy="2724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Confidentiality: What information became accessible?</a:t>
            </a:r>
            <a:br/>
            <a:br/>
            <a:r>
              <a:t>Integrity: What data or state could be modified?</a:t>
            </a:r>
            <a:br/>
            <a:br/>
            <a:r>
              <a:t>Availability: Mark only if actually demonstrated; otherwise “Not Demonstrated.”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105156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F2A143"/>
                </a:solidFill>
                <a:latin typeface="Aptos"/>
              </a:defRPr>
            </a:pPr>
            <a:r>
              <a:t>Severity should reflect demonstrated impact and conditions—not the vulnerability name alone.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2369AF"/>
                </a:solidFill>
                <a:latin typeface="Aptos"/>
              </a:defRPr>
            </a:pPr>
            <a:r>
              <a:t>WEEK 8 • ADVANCED VAPT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0F223D"/>
                </a:solidFill>
                <a:latin typeface="Aptos"/>
              </a:defRPr>
            </a:pPr>
            <a:r>
              <a:t>Remediation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05840" cy="54864"/>
          </a:xfrm>
          <a:prstGeom prst="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7778B"/>
                </a:solidFill>
                <a:latin typeface="Aptos"/>
              </a:defRPr>
            </a:pPr>
            <a:r>
              <a:t>OWASP Juice Shop  |  Authorized training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777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24231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2369AF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417320"/>
            <a:ext cx="7955279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0">
                <a:solidFill>
                  <a:srgbClr val="253345"/>
                </a:solidFill>
                <a:latin typeface="Aptos"/>
              </a:defRPr>
            </a:pPr>
            <a:r>
              <a:t>Enforce server-side checks and secure session lifecycle.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993392"/>
            <a:ext cx="10424160" cy="13716"/>
          </a:xfrm>
          <a:prstGeom prst="rect">
            <a:avLst/>
          </a:prstGeom>
          <a:solidFill>
            <a:srgbClr val="D8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21992"/>
            <a:ext cx="24231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2369AF"/>
                </a:solidFill>
                <a:latin typeface="Aptos"/>
              </a:defRPr>
            </a:pPr>
            <a:r>
              <a:t>IDOR / Access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21992"/>
            <a:ext cx="7955279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0">
                <a:solidFill>
                  <a:srgbClr val="253345"/>
                </a:solidFill>
                <a:latin typeface="Aptos"/>
              </a:defRPr>
            </a:pPr>
            <a:r>
              <a:t>Check ownership and role on every object request.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98064"/>
            <a:ext cx="10424160" cy="13716"/>
          </a:xfrm>
          <a:prstGeom prst="rect">
            <a:avLst/>
          </a:prstGeom>
          <a:solidFill>
            <a:srgbClr val="D8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26664"/>
            <a:ext cx="24231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2369AF"/>
                </a:solidFill>
                <a:latin typeface="Aptos"/>
              </a:defRPr>
            </a:pPr>
            <a:r>
              <a:t>Business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026664"/>
            <a:ext cx="7955279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0">
                <a:solidFill>
                  <a:srgbClr val="253345"/>
                </a:solidFill>
                <a:latin typeface="Aptos"/>
              </a:defRPr>
            </a:pPr>
            <a:r>
              <a:t>Validate workflow state and prerequisites server-side.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602736"/>
            <a:ext cx="10424160" cy="13716"/>
          </a:xfrm>
          <a:prstGeom prst="rect">
            <a:avLst/>
          </a:prstGeom>
          <a:solidFill>
            <a:srgbClr val="D8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31336"/>
            <a:ext cx="24231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2369AF"/>
                </a:solidFill>
                <a:latin typeface="Aptos"/>
              </a:defRPr>
            </a:pPr>
            <a:r>
              <a:t>Parameter Tampering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831336"/>
            <a:ext cx="7955279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0">
                <a:solidFill>
                  <a:srgbClr val="253345"/>
                </a:solidFill>
                <a:latin typeface="Aptos"/>
              </a:defRPr>
            </a:pPr>
            <a:r>
              <a:t>Treat client parameters as untrusted; validate type, range and rules.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407408"/>
            <a:ext cx="10424160" cy="13716"/>
          </a:xfrm>
          <a:prstGeom prst="rect">
            <a:avLst/>
          </a:prstGeom>
          <a:solidFill>
            <a:srgbClr val="D8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36008"/>
            <a:ext cx="24231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2369AF"/>
                </a:solidFill>
                <a:latin typeface="Aptos"/>
              </a:defRPr>
            </a:pPr>
            <a:r>
              <a:t>Session Issues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36008"/>
            <a:ext cx="7955279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0">
                <a:solidFill>
                  <a:srgbClr val="253345"/>
                </a:solidFill>
                <a:latin typeface="Aptos"/>
              </a:defRPr>
            </a:pPr>
            <a:r>
              <a:t>Use secure cookie attributes, expiry, rotation and invalidation.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3327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319770"/>
                </a:solidFill>
                <a:latin typeface="Aptos"/>
              </a:defRPr>
            </a:pPr>
            <a:r>
              <a:t>Re-test the original requests and add regression tests for the complete chain.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000" b="1">
                <a:solidFill>
                  <a:srgbClr val="2369AF"/>
                </a:solidFill>
                <a:latin typeface="Aptos"/>
              </a:defRPr>
            </a:pPr>
            <a:r>
              <a:t>WEEK 8 • ADVANCED VAPT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800" b="1">
                <a:solidFill>
                  <a:srgbClr val="0F223D"/>
                </a:solidFill>
                <a:latin typeface="Aptos"/>
              </a:defRPr>
            </a:pPr>
            <a:r>
              <a:t>Key Learnings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005840" cy="54864"/>
          </a:xfrm>
          <a:prstGeom prst="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67778B"/>
                </a:solidFill>
                <a:latin typeface="Aptos"/>
              </a:defRPr>
            </a:pPr>
            <a:r>
              <a:t>OWASP Juice Shop  |  Authorized training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000" b="0">
                <a:solidFill>
                  <a:srgbClr val="67778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429000" cy="233172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73152" cy="233172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46504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Think in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67128"/>
            <a:ext cx="3063240" cy="167335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Understand how application pages, APIs and state transitions connect.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233172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00200"/>
            <a:ext cx="73152" cy="2331720"/>
          </a:xfrm>
          <a:prstGeom prst="rect">
            <a:avLst/>
          </a:prstGeom>
          <a:solidFill>
            <a:srgbClr val="34B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746504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Validate manually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167128"/>
            <a:ext cx="3063240" cy="167335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Use controlled request replay to distinguish assumptions from reproducible behavior.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00200"/>
            <a:ext cx="3429000" cy="2331720"/>
          </a:xfrm>
          <a:prstGeom prst="roundRect">
            <a:avLst/>
          </a:prstGeom>
          <a:solidFill>
            <a:srgbClr val="EFF6FC"/>
          </a:solidFill>
          <a:ln>
            <a:solidFill>
              <a:srgbClr val="D8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00200"/>
            <a:ext cx="73152" cy="2331720"/>
          </a:xfrm>
          <a:prstGeom prst="rect">
            <a:avLst/>
          </a:prstGeom>
          <a:solidFill>
            <a:srgbClr val="F2A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746504"/>
            <a:ext cx="3063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700" b="1">
                <a:solidFill>
                  <a:srgbClr val="0F223D"/>
                </a:solidFill>
                <a:latin typeface="Aptos"/>
              </a:defRPr>
            </a:pPr>
            <a:r>
              <a:t>Report responsibly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67128"/>
            <a:ext cx="3063240" cy="167335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300" b="0">
                <a:solidFill>
                  <a:srgbClr val="253345"/>
                </a:solidFill>
                <a:latin typeface="Aptos"/>
              </a:defRPr>
            </a:pPr>
            <a:r>
              <a:t>Connect evidence to impact and provide actionable remediation.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1033272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000" b="1">
                <a:solidFill>
                  <a:srgbClr val="0F223D"/>
                </a:solidFill>
                <a:latin typeface="Aptos"/>
              </a:defRPr>
            </a:pPr>
            <a:r>
              <a:t>Security decisions must be enforced on the server for every protected request—not by the interface alone.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500" b="0">
                <a:solidFill>
                  <a:srgbClr val="67778B"/>
                </a:solidFill>
                <a:latin typeface="Aptos"/>
              </a:defRPr>
            </a:pPr>
            <a:r>
              <a:t>The objective is to understand and break the chain at multiple control points.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1">
                <a:solidFill>
                  <a:srgbClr val="34B7CD"/>
                </a:solidFill>
                <a:latin typeface="Aptos"/>
              </a:defRPr>
            </a:pPr>
            <a:r>
              <a:t>WEEK 8 • ADVANCED VAPT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0424160" cy="1463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2200" b="1">
                <a:solidFill>
                  <a:srgbClr val="DCE9F5"/>
                </a:solidFill>
                <a:latin typeface="Aptos"/>
              </a:defRPr>
            </a:pPr>
            <a:r>
              <a:t>The assessment framework builds practical understanding of how authentication, authorization, session handling, parameters and business workflows affect web application security.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86200"/>
            <a:ext cx="10332720" cy="1051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Combining manual testing with Burp Suite, evidence-led validation and risk-based remediation helps identify where a chain may form—and how server-side controls can break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064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34B7CD"/>
                </a:solidFill>
                <a:latin typeface="Aptos"/>
              </a:defRPr>
            </a:pPr>
            <a:r>
              <a:t>Thank you  |  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46520"/>
            <a:ext cx="1042416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900" b="0">
                <a:solidFill>
                  <a:srgbClr val="B4C8DE"/>
                </a:solidFill>
                <a:latin typeface="Aptos"/>
              </a:defRPr>
            </a:pPr>
            <a:r>
              <a:t>Prepared by Krina Sorathiya • DG Interns 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